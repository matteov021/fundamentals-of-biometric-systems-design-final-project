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1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6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10" orient="horz"/>
        <p:guide pos="3840"/>
        <p:guide pos="36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344c11b6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d344c11b6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Invisible baggage we carry everyday that affects our health</a:t>
            </a:r>
            <a:endParaRPr/>
          </a:p>
        </p:txBody>
      </p:sp>
      <p:sp>
        <p:nvSpPr>
          <p:cNvPr id="49" name="Google Shape;49;g3d344c11b6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cfe599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cfe599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ccfe5993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344c11b6d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344c11b6d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344c11b6d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ccfe5993e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ccfe5993e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ccfe5993e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44c11b6d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344c11b6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344c11b6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44c11b6d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44c11b6d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344c11b6d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44c11b6d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44c11b6d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344c11b6d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44c11b6d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344c11b6d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d344c11b6d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344c11b6d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344c11b6d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344c11b6d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344c11b6d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344c11b6d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344c11b6d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44c11b6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344c11b6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344c11b6d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44c11b6d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344c11b6d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344c11b6d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37ea5d2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37ea5d2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37ea5d27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191909" y="1051240"/>
            <a:ext cx="6896023" cy="234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i="0" sz="6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91909" y="3393929"/>
            <a:ext cx="7841294" cy="714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1191909" y="4398461"/>
            <a:ext cx="7841294" cy="1125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1191909" y="5530413"/>
            <a:ext cx="6586081" cy="521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562628" y="1773195"/>
            <a:ext cx="9724372" cy="4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3272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BB03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57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BB03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57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>
            <p:ph idx="2" type="pic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57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5"/>
          <p:cNvSpPr/>
          <p:nvPr>
            <p:ph idx="3" type="pic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" name="Google Shape;28;p5"/>
          <p:cNvCxnSpPr/>
          <p:nvPr/>
        </p:nvCxnSpPr>
        <p:spPr>
          <a:xfrm>
            <a:off x="6096000" y="1551313"/>
            <a:ext cx="0" cy="46534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idx="4" type="body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57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9146427" y="63805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562628" y="463968"/>
            <a:ext cx="9724372" cy="103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1578280" y="1168640"/>
            <a:ext cx="8749432" cy="4621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ctrTitle"/>
          </p:nvPr>
        </p:nvSpPr>
        <p:spPr>
          <a:xfrm>
            <a:off x="1578279" y="1577649"/>
            <a:ext cx="8418337" cy="19284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1578279" y="3521318"/>
            <a:ext cx="8418337" cy="78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1578279" y="4317516"/>
            <a:ext cx="8418337" cy="14688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tteov021/Fundamentals-of-Biometric-Systems-Design-Final-Projec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983100" y="2373600"/>
            <a:ext cx="96222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Project 2 - Bayesian Networks</a:t>
            </a:r>
            <a:endParaRPr/>
          </a:p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983100" y="3601425"/>
            <a:ext cx="9530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800"/>
              <a:t>Bayesian Network for Stress Data (How Lifestyle Affects Stress)</a:t>
            </a:r>
            <a:endParaRPr sz="2800"/>
          </a:p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983100" y="4398450"/>
            <a:ext cx="4856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000"/>
              <a:t>Group #30 - Matteo Valente and Marcus Gee </a:t>
            </a:r>
            <a:endParaRPr sz="2000"/>
          </a:p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983100" y="4955300"/>
            <a:ext cx="22455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Github Source Code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Stress </a:t>
            </a:r>
            <a:endParaRPr sz="4000"/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85825" y="2064625"/>
            <a:ext cx="5384700" cy="34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Life is inherently full of stressors, </a:t>
            </a:r>
            <a:r>
              <a:rPr lang="en-US" sz="3200"/>
              <a:t>everything</a:t>
            </a:r>
            <a:r>
              <a:rPr lang="en-US" sz="3200"/>
              <a:t> is interconnected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These can have major underlying </a:t>
            </a:r>
            <a:r>
              <a:rPr lang="en-US" sz="3200"/>
              <a:t>effects</a:t>
            </a:r>
            <a:r>
              <a:rPr lang="en-US" sz="3200"/>
              <a:t> on our health</a:t>
            </a:r>
            <a:endParaRPr sz="3200"/>
          </a:p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75" y="2034614"/>
            <a:ext cx="4630801" cy="3473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9"/>
          <p:cNvSpPr txBox="1"/>
          <p:nvPr>
            <p:ph idx="1" type="body"/>
          </p:nvPr>
        </p:nvSpPr>
        <p:spPr>
          <a:xfrm>
            <a:off x="6635075" y="5556613"/>
            <a:ext cx="4181400" cy="28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The Average Engineering Student’s Brain 24/7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Bayesian Networks</a:t>
            </a:r>
            <a:endParaRPr/>
          </a:p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62625" y="1817075"/>
            <a:ext cx="5670000" cy="411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We can use data to rationalize and </a:t>
            </a:r>
            <a:r>
              <a:rPr lang="en-US" sz="2900"/>
              <a:t>understand our lived experiences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Bayesian Networks are a type of </a:t>
            </a:r>
            <a:r>
              <a:rPr lang="en-US" sz="2900"/>
              <a:t>Probabilistic Graphical Model that can be used to:</a:t>
            </a:r>
            <a:endParaRPr sz="29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Describe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Diagnose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Predict</a:t>
            </a:r>
            <a:endParaRPr sz="2500"/>
          </a:p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650" y="1817068"/>
            <a:ext cx="5533978" cy="313015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7031925" y="5087388"/>
            <a:ext cx="4181400" cy="28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An Example Bayesian Network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Procedure and Flowchart</a:t>
            </a:r>
            <a:endParaRPr sz="4000"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62625" y="1497475"/>
            <a:ext cx="6068400" cy="496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Build a </a:t>
            </a:r>
            <a:r>
              <a:rPr b="1" lang="en-US"/>
              <a:t>Bayesian Network</a:t>
            </a:r>
            <a:r>
              <a:rPr lang="en-US"/>
              <a:t> using real world data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Occupation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Sleep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Physical Health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Compute </a:t>
            </a:r>
            <a:r>
              <a:rPr b="1" lang="en-US"/>
              <a:t>Conditional Probability Tables (CPTs)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Analyze how lifestyle factors influence stress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Perform </a:t>
            </a:r>
            <a:r>
              <a:rPr b="1" lang="en-US"/>
              <a:t>inference using different scenarios</a:t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025" y="2167938"/>
            <a:ext cx="4926050" cy="2979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7003350" y="5423275"/>
            <a:ext cx="4181400" cy="28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An Example Bayesian Network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Bayesian Network Setup</a:t>
            </a:r>
            <a:endParaRPr sz="4000"/>
          </a:p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625" y="4041400"/>
            <a:ext cx="6022999" cy="2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626" y="1594125"/>
            <a:ext cx="4072675" cy="46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5625" y="1769400"/>
            <a:ext cx="6023000" cy="189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Bayesian Network Setup</a:t>
            </a:r>
            <a:endParaRPr sz="4000"/>
          </a:p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509875" y="1435925"/>
            <a:ext cx="5418000" cy="500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Add Variable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Build the node with the appropriate name and ordered states, and then adds that new node into the network structure </a:t>
            </a:r>
            <a:endParaRPr b="1"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/>
              <a:t>Comp</a:t>
            </a:r>
            <a:r>
              <a:rPr b="1" lang="en-US" sz="1600"/>
              <a:t>u</a:t>
            </a:r>
            <a:r>
              <a:rPr b="1" lang="en-US" sz="1600"/>
              <a:t>te Prior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Counts how many times each unique value appears in the column and divides by the total row count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Reformats it into a clean, two column dataframe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/>
              <a:t>Compute Conditional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Groups the dataset by the parent and child columns for how often specific combinations happen together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Divide the count of each specific combination by the total occurrences of the parent state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/>
              <a:t>Fill Output CPT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Loops through every possible state of the parent variable of </a:t>
            </a:r>
            <a:r>
              <a:rPr i="1" lang="en-US" sz="1600"/>
              <a:t>counts</a:t>
            </a:r>
            <a:r>
              <a:rPr lang="en-US" sz="1600"/>
              <a:t> dataframe to isolate the probabilities for the child variable under that specific parent state.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27505" l="0" r="0" t="0"/>
          <a:stretch/>
        </p:blipFill>
        <p:spPr>
          <a:xfrm>
            <a:off x="6096000" y="1605500"/>
            <a:ext cx="5171100" cy="40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Bayesian Network Setup</a:t>
            </a:r>
            <a:endParaRPr sz="4000"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625" y="1596388"/>
            <a:ext cx="3674133" cy="2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75" y="1928650"/>
            <a:ext cx="4617799" cy="392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2550" y="3898500"/>
            <a:ext cx="5000271" cy="2203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400"/>
              <a:t>Scenario 1: Normal Stress for a 20-40 year old Doctor</a:t>
            </a:r>
            <a:endParaRPr sz="3400"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5169550" y="3504538"/>
            <a:ext cx="7028700" cy="29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Probability </a:t>
            </a:r>
            <a:r>
              <a:rPr lang="en-US" sz="1500" u="sng"/>
              <a:t>Stress is Normal</a:t>
            </a:r>
            <a:r>
              <a:rPr lang="en-US" sz="1500"/>
              <a:t> given </a:t>
            </a:r>
            <a:r>
              <a:rPr lang="en-US" sz="1500" u="sng"/>
              <a:t>Occupation is Doctor</a:t>
            </a:r>
            <a:r>
              <a:rPr lang="en-US" sz="1500"/>
              <a:t> and </a:t>
            </a:r>
            <a:r>
              <a:rPr lang="en-US" sz="1500" u="sng"/>
              <a:t>Demographic is Male 20-40</a:t>
            </a:r>
            <a:endParaRPr sz="1500" u="sng"/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350" y="3894750"/>
            <a:ext cx="2917100" cy="28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388" y="1826925"/>
            <a:ext cx="4257675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3965" y="1497475"/>
            <a:ext cx="6179850" cy="19141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562625" y="463975"/>
            <a:ext cx="99423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00"/>
              <a:t>Scenario 2: High Heart Rate for a High Stress Teacher</a:t>
            </a:r>
            <a:endParaRPr sz="3500"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5789950" y="3830513"/>
            <a:ext cx="60903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Probability </a:t>
            </a:r>
            <a:r>
              <a:rPr lang="en-US" sz="1500" u="sng"/>
              <a:t>Heart Rate is High</a:t>
            </a:r>
            <a:r>
              <a:rPr lang="en-US" sz="1500"/>
              <a:t> given </a:t>
            </a:r>
            <a:r>
              <a:rPr lang="en-US" sz="1500" u="sng"/>
              <a:t>Occupation is Teacher</a:t>
            </a:r>
            <a:r>
              <a:rPr lang="en-US" sz="1500"/>
              <a:t> and </a:t>
            </a:r>
            <a:r>
              <a:rPr lang="en-US" sz="1500" u="sng"/>
              <a:t>Stress is High</a:t>
            </a:r>
            <a:endParaRPr sz="2200"/>
          </a:p>
        </p:txBody>
      </p:sp>
      <p:sp>
        <p:nvSpPr>
          <p:cNvPr id="123" name="Google Shape;123;p16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2302" y="4285263"/>
            <a:ext cx="3354925" cy="180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800" y="1734338"/>
            <a:ext cx="474345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5300" y="1734338"/>
            <a:ext cx="6459601" cy="2019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(New) </a:t>
            </a:r>
            <a:r>
              <a:rPr lang="en-US" sz="4000"/>
              <a:t>Bayesian Network Setup</a:t>
            </a:r>
            <a:endParaRPr sz="4000"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8746" y="1682127"/>
            <a:ext cx="3927358" cy="248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625" y="1682125"/>
            <a:ext cx="3681985" cy="394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932" y="4405824"/>
            <a:ext cx="6704992" cy="1224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(New) </a:t>
            </a:r>
            <a:r>
              <a:rPr lang="en-US" sz="4000"/>
              <a:t>Scenario 1: Occupation given Moderate Daily Steps and Normal Sleep</a:t>
            </a:r>
            <a:endParaRPr sz="4000"/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6323225" y="5418975"/>
            <a:ext cx="4600500" cy="60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Probability </a:t>
            </a:r>
            <a:r>
              <a:rPr lang="en-US" sz="1500" u="sng"/>
              <a:t>Occupation is Accountant</a:t>
            </a:r>
            <a:r>
              <a:rPr lang="en-US" sz="1500"/>
              <a:t> given </a:t>
            </a:r>
            <a:endParaRPr sz="15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 u="sng"/>
              <a:t>Daily Steps is Moderate</a:t>
            </a:r>
            <a:r>
              <a:rPr lang="en-US" sz="1500"/>
              <a:t> and </a:t>
            </a:r>
            <a:r>
              <a:rPr lang="en-US" sz="1500" u="sng"/>
              <a:t>Sleep Duration is Normal</a:t>
            </a:r>
            <a:endParaRPr sz="1500"/>
          </a:p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13" y="1855150"/>
            <a:ext cx="4855225" cy="342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513" y="5418963"/>
            <a:ext cx="35052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2225" y="1855138"/>
            <a:ext cx="4302499" cy="3478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(New) </a:t>
            </a:r>
            <a:r>
              <a:rPr lang="en-US" sz="4000"/>
              <a:t>Scenario 2 - Stress given a Stage 1 Blood Pressure Nurse</a:t>
            </a:r>
            <a:endParaRPr sz="4000"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7939175" y="5342175"/>
            <a:ext cx="4181400" cy="53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Probability </a:t>
            </a:r>
            <a:r>
              <a:rPr lang="en-US" sz="1500" u="sng"/>
              <a:t>Stress is Low</a:t>
            </a:r>
            <a:r>
              <a:rPr lang="en-US" sz="1500"/>
              <a:t> given </a:t>
            </a:r>
            <a:r>
              <a:rPr lang="en-US" sz="1500" u="sng"/>
              <a:t>Occupation is Nurse</a:t>
            </a:r>
            <a:r>
              <a:rPr lang="en-US" sz="1500"/>
              <a:t> </a:t>
            </a:r>
            <a:br>
              <a:rPr lang="en-US" sz="1500"/>
            </a:br>
            <a:r>
              <a:rPr lang="en-US" sz="1500"/>
              <a:t>and </a:t>
            </a:r>
            <a:r>
              <a:rPr lang="en-US" sz="1500" u="sng"/>
              <a:t>Blood Pressure is High (Stage 1)</a:t>
            </a:r>
            <a:endParaRPr sz="1500"/>
          </a:p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1332" r="2115" t="0"/>
          <a:stretch/>
        </p:blipFill>
        <p:spPr>
          <a:xfrm>
            <a:off x="285275" y="2044125"/>
            <a:ext cx="4124450" cy="329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737" y="2118550"/>
            <a:ext cx="3347450" cy="31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1200" y="1696300"/>
            <a:ext cx="3917350" cy="357144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Conclusions</a:t>
            </a:r>
            <a:endParaRPr sz="4000"/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562625" y="1773200"/>
            <a:ext cx="6087000" cy="483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Health and lifestyle are very </a:t>
            </a:r>
            <a:r>
              <a:rPr lang="en-US" sz="2200"/>
              <a:t>interconnected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Bayesian networks allow us to model these relationships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this investigation, we realized how much of an impact lifestyles have on stress and health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Take care of yourself!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Limitations:</a:t>
            </a:r>
            <a:endParaRPr b="1"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dataset we used could potentially have bias, for example, there were no doctors with high sleep scores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 only had 5 nodes in our Bayesian network, with so many factors we can easily miss relationships in data</a:t>
            </a:r>
            <a:endParaRPr sz="2200"/>
          </a:p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6176" y="1935168"/>
            <a:ext cx="47434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7427200" y="5161588"/>
            <a:ext cx="4181400" cy="28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The Average Engineering Student After April 30th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562628" y="463968"/>
            <a:ext cx="9724500" cy="103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Steps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562625" y="1773200"/>
            <a:ext cx="5365200" cy="411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If we were to do this project again, we could look at additional variables, such as family structure, financial situation, or country of residence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We could expand the network to account for more variables</a:t>
            </a:r>
            <a:endParaRPr sz="2900"/>
          </a:p>
        </p:txBody>
      </p:sp>
      <p:sp>
        <p:nvSpPr>
          <p:cNvPr id="176" name="Google Shape;176;p21"/>
          <p:cNvSpPr txBox="1"/>
          <p:nvPr>
            <p:ph idx="12" type="sldNum"/>
          </p:nvPr>
        </p:nvSpPr>
        <p:spPr>
          <a:xfrm>
            <a:off x="9146427" y="6380538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530" y="2055013"/>
            <a:ext cx="5025768" cy="355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